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5150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2FF"/>
          </a:solidFill>
          <a:ln w="12700">
            <a:solidFill>
              <a:srgbClr val="00F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73152" cy="508863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008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5029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DevNet Global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1371600" y="12344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System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1371600" y="20574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Surveillance Intelligent — Dashboard Temps Réel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371600" y="2560320"/>
            <a:ext cx="640080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371600" y="2724912"/>
            <a:ext cx="109728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71600" y="27249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606040" y="2724912"/>
            <a:ext cx="109728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06040" y="27249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840480" y="2724912"/>
            <a:ext cx="109728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0480" y="27249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074920" y="2724912"/>
            <a:ext cx="109728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74920" y="27249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309360" y="2724912"/>
            <a:ext cx="109728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09360" y="27249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543800" y="2724912"/>
            <a:ext cx="109728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43800" y="27249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57200" y="3337560"/>
            <a:ext cx="822960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566160"/>
            <a:ext cx="457200" cy="4572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28016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 :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128016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Maissa</a:t>
            </a: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 smtClean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Dhahri</a:t>
            </a:r>
            <a:r>
              <a:rPr lang="en-US" sz="1600" b="1" dirty="0" smtClean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600" b="1" dirty="0" err="1" smtClean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Nour</a:t>
            </a:r>
            <a:r>
              <a:rPr lang="en-US" sz="1600" b="1" dirty="0" smtClean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</a:t>
            </a:r>
            <a:r>
              <a:rPr lang="en-US" sz="1600" b="1" dirty="0" err="1" smtClean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Houda</a:t>
            </a:r>
            <a:r>
              <a:rPr lang="en-US" sz="1600" b="1" dirty="0" smtClean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 smtClean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Gedira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1280160" y="4005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GL1  |  Encadrant : Dr. Belgacem Chaibi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85800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2025–2026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2FF"/>
          </a:solidFill>
          <a:ln w="12700">
            <a:solidFill>
              <a:srgbClr val="00F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00F2FF"/>
          </a:solidFill>
          <a:ln w="12700">
            <a:solidFill>
              <a:srgbClr val="00F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41148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64008" cy="822960"/>
          </a:xfrm>
          <a:prstGeom prst="rect">
            <a:avLst/>
          </a:prstGeom>
          <a:solidFill>
            <a:srgbClr val="00F2FF"/>
          </a:solidFill>
          <a:ln w="12700">
            <a:solidFill>
              <a:srgbClr val="00F2F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17043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10607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78992" y="1280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78992" y="153619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Objectifs, contexte &amp; périmètre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46320" y="1005840"/>
            <a:ext cx="41148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46320" y="1005840"/>
            <a:ext cx="64008" cy="822960"/>
          </a:xfrm>
          <a:prstGeom prst="rect">
            <a:avLst/>
          </a:prstGeom>
          <a:solidFill>
            <a:srgbClr val="00F2FF"/>
          </a:solidFill>
          <a:ln w="12700">
            <a:solidFill>
              <a:srgbClr val="00F2FF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1170432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59552" y="10607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559552" y="1280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559552" y="153619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Stack, composants &amp; flux de données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2029968"/>
            <a:ext cx="41148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65760" y="2029968"/>
            <a:ext cx="64008" cy="822960"/>
          </a:xfrm>
          <a:prstGeom prst="rect">
            <a:avLst/>
          </a:prstGeom>
          <a:solidFill>
            <a:srgbClr val="00F2FF"/>
          </a:solidFill>
          <a:ln w="12700">
            <a:solidFill>
              <a:srgbClr val="00F2FF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219456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78992" y="20848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078992" y="23042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FastAPI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078992" y="2560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Endpoints, météo, métriques système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846320" y="2029968"/>
            <a:ext cx="41148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846320" y="2029968"/>
            <a:ext cx="64008" cy="822960"/>
          </a:xfrm>
          <a:prstGeom prst="rect">
            <a:avLst/>
          </a:prstGeom>
          <a:solidFill>
            <a:srgbClr val="00F2FF"/>
          </a:solidFill>
          <a:ln w="12700">
            <a:solidFill>
              <a:srgbClr val="00F2FF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912" y="219456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59552" y="20848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559552" y="23042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Streamlit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559552" y="2560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cartes, graphiques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65760" y="3054096"/>
            <a:ext cx="41148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365760" y="3054096"/>
            <a:ext cx="64008" cy="822960"/>
          </a:xfrm>
          <a:prstGeom prst="rect">
            <a:avLst/>
          </a:prstGeom>
          <a:solidFill>
            <a:srgbClr val="00F2FF"/>
          </a:solidFill>
          <a:ln w="12700">
            <a:solidFill>
              <a:srgbClr val="00F2FF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" y="3218688"/>
            <a:ext cx="457200" cy="4572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078992" y="3108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1078992" y="33284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&amp; Infrastructure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1078992" y="358444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GitHub Actions, déploiement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4846320" y="3054096"/>
            <a:ext cx="41148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4846320" y="3054096"/>
            <a:ext cx="64008" cy="822960"/>
          </a:xfrm>
          <a:prstGeom prst="rect">
            <a:avLst/>
          </a:prstGeom>
          <a:solidFill>
            <a:srgbClr val="00F2FF"/>
          </a:solidFill>
          <a:ln w="12700">
            <a:solidFill>
              <a:srgbClr val="00F2FF"/>
            </a:solidFill>
            <a:prstDash val="solid"/>
          </a:ln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0912" y="3218688"/>
            <a:ext cx="457200" cy="45720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559552" y="3108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5559552" y="33284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&amp; Résultats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5559552" y="358444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demo, captures &amp; métriques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2423160" y="4078224"/>
            <a:ext cx="41148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2423160" y="4078224"/>
            <a:ext cx="64008" cy="822960"/>
          </a:xfrm>
          <a:prstGeom prst="rect">
            <a:avLst/>
          </a:prstGeom>
          <a:solidFill>
            <a:srgbClr val="00F2FF"/>
          </a:solidFill>
          <a:ln w="12700">
            <a:solidFill>
              <a:srgbClr val="00F2FF"/>
            </a:solidFill>
            <a:prstDash val="solid"/>
          </a:ln>
        </p:spPr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87752" y="4242816"/>
            <a:ext cx="457200" cy="457200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3136392" y="4133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45" name="Text 36"/>
          <p:cNvSpPr/>
          <p:nvPr/>
        </p:nvSpPr>
        <p:spPr>
          <a:xfrm>
            <a:off x="3136392" y="43525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300" dirty="0"/>
          </a:p>
        </p:txBody>
      </p:sp>
      <p:sp>
        <p:nvSpPr>
          <p:cNvPr id="46" name="Text 37"/>
          <p:cNvSpPr/>
          <p:nvPr/>
        </p:nvSpPr>
        <p:spPr>
          <a:xfrm>
            <a:off x="3136392" y="460857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Bilan, améliorations futures</a:t>
            </a:r>
            <a:endParaRPr lang="en-US" sz="1000" dirty="0"/>
          </a:p>
        </p:txBody>
      </p:sp>
      <p:sp>
        <p:nvSpPr>
          <p:cNvPr id="47" name="Shape 38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2FF"/>
          </a:solidFill>
          <a:ln w="12700">
            <a:solidFill>
              <a:srgbClr val="00F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Présentation du Projet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914400" cy="45720"/>
          </a:xfrm>
          <a:prstGeom prst="rect">
            <a:avLst/>
          </a:prstGeom>
          <a:solidFill>
            <a:srgbClr val="00F2FF"/>
          </a:solidFill>
          <a:ln w="12700">
            <a:solidFill>
              <a:srgbClr val="00F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41248"/>
            <a:ext cx="841248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978408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87782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DevNet Global Monitoring System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34440" y="1170432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surveillance intelligente en temps réel combinant un tableau de bord météo mondial, des métriques système (CPU, RAM, Disque) et une visualisation interactive des données via FastAPI + Streamlit.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65760" y="1892808"/>
            <a:ext cx="265176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" y="1892808"/>
            <a:ext cx="2651760" cy="64008"/>
          </a:xfrm>
          <a:prstGeom prst="rect">
            <a:avLst/>
          </a:prstGeom>
          <a:solidFill>
            <a:srgbClr val="00F2FF"/>
          </a:solidFill>
          <a:ln w="12700">
            <a:solidFill>
              <a:srgbClr val="00F2F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05740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26700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Système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8640" y="299923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CPU, RAM et Disque en temps réel avec jauges animées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200400" y="1892808"/>
            <a:ext cx="265176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200400" y="1892808"/>
            <a:ext cx="2651760" cy="64008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205740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383280" y="26700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Météo Mondiale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383280" y="299923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météo en direct pour 11 villes via l'API Open-Meteo (gratuite)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035040" y="1892808"/>
            <a:ext cx="265176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035040" y="1892808"/>
            <a:ext cx="265176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2057400"/>
            <a:ext cx="548640" cy="5486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17920" y="26700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Avancée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217920" y="299923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Graphiques interactifs, carte mondiale et statistiques par pays/région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822960" y="3977640"/>
            <a:ext cx="1645920" cy="868680"/>
          </a:xfrm>
          <a:prstGeom prst="rect">
            <a:avLst/>
          </a:prstGeom>
          <a:solidFill>
            <a:srgbClr val="1F293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" y="400507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600" dirty="0"/>
          </a:p>
        </p:txBody>
      </p:sp>
      <p:sp>
        <p:nvSpPr>
          <p:cNvPr id="26" name="Text 20"/>
          <p:cNvSpPr/>
          <p:nvPr/>
        </p:nvSpPr>
        <p:spPr>
          <a:xfrm>
            <a:off x="822960" y="44074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Villes Monde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2743200" y="3977640"/>
            <a:ext cx="1645920" cy="868680"/>
          </a:xfrm>
          <a:prstGeom prst="rect">
            <a:avLst/>
          </a:prstGeom>
          <a:solidFill>
            <a:srgbClr val="1F293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2743200" y="400507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29" name="Text 23"/>
          <p:cNvSpPr/>
          <p:nvPr/>
        </p:nvSpPr>
        <p:spPr>
          <a:xfrm>
            <a:off x="2743200" y="44074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API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4663440" y="3977640"/>
            <a:ext cx="1645920" cy="868680"/>
          </a:xfrm>
          <a:prstGeom prst="rect">
            <a:avLst/>
          </a:prstGeom>
          <a:solidFill>
            <a:srgbClr val="1F293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4663440" y="400507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32" name="Text 26"/>
          <p:cNvSpPr/>
          <p:nvPr/>
        </p:nvSpPr>
        <p:spPr>
          <a:xfrm>
            <a:off x="4663440" y="44074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Live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6583680" y="3977640"/>
            <a:ext cx="1645920" cy="868680"/>
          </a:xfrm>
          <a:prstGeom prst="rect">
            <a:avLst/>
          </a:prstGeom>
          <a:solidFill>
            <a:srgbClr val="1F293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583680" y="400507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35" name="Text 29"/>
          <p:cNvSpPr/>
          <p:nvPr/>
        </p:nvSpPr>
        <p:spPr>
          <a:xfrm>
            <a:off x="6583680" y="44074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2FF"/>
          </a:solidFill>
          <a:ln w="12700">
            <a:solidFill>
              <a:srgbClr val="00F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Architecture Technique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914400" cy="45720"/>
          </a:xfrm>
          <a:prstGeom prst="rect">
            <a:avLst/>
          </a:prstGeom>
          <a:solidFill>
            <a:srgbClr val="00F2FF"/>
          </a:solidFill>
          <a:ln w="12700">
            <a:solidFill>
              <a:srgbClr val="00F2F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85800"/>
            <a:ext cx="8595360" cy="4251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2FF"/>
          </a:solidFill>
          <a:ln w="12700">
            <a:solidFill>
              <a:srgbClr val="00F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Backend — FastAPI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914400" cy="45720"/>
          </a:xfrm>
          <a:prstGeom prst="rect">
            <a:avLst/>
          </a:prstGeom>
          <a:solidFill>
            <a:srgbClr val="00F2FF"/>
          </a:solidFill>
          <a:ln w="12700">
            <a:solidFill>
              <a:srgbClr val="00F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77240"/>
            <a:ext cx="4114800" cy="402336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22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API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261872"/>
            <a:ext cx="3840480" cy="713232"/>
          </a:xfrm>
          <a:prstGeom prst="rect">
            <a:avLst/>
          </a:prstGeom>
          <a:solidFill>
            <a:srgbClr val="1F293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61872"/>
            <a:ext cx="64008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3502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15361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/api/system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171907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RAM, Disk — psutil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2084832"/>
            <a:ext cx="3840480" cy="713232"/>
          </a:xfrm>
          <a:prstGeom prst="rect">
            <a:avLst/>
          </a:prstGeom>
          <a:solidFill>
            <a:srgbClr val="1F293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084832"/>
            <a:ext cx="64008" cy="713232"/>
          </a:xfrm>
          <a:prstGeom prst="rect">
            <a:avLst/>
          </a:prstGeom>
          <a:solidFill>
            <a:srgbClr val="00F2FF"/>
          </a:solidFill>
          <a:ln w="12700">
            <a:solidFill>
              <a:srgbClr val="00F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1579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3591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/api/weather/{city}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254203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Météo ville — Open-Meteo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2907792"/>
            <a:ext cx="3840480" cy="713232"/>
          </a:xfrm>
          <a:prstGeom prst="rect">
            <a:avLst/>
          </a:prstGeom>
          <a:solidFill>
            <a:srgbClr val="1F293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907792"/>
            <a:ext cx="64008" cy="71323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98094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31821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/api/cities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3649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villes + filtres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3730752"/>
            <a:ext cx="3840480" cy="713232"/>
          </a:xfrm>
          <a:prstGeom prst="rect">
            <a:avLst/>
          </a:prstGeom>
          <a:solidFill>
            <a:srgbClr val="1F293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730752"/>
            <a:ext cx="6400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8039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40050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/api/health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41879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de l'API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777240"/>
            <a:ext cx="4114800" cy="402336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822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Clés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800600" y="1261872"/>
            <a:ext cx="3840480" cy="713232"/>
          </a:xfrm>
          <a:prstGeom prst="rect">
            <a:avLst/>
          </a:prstGeom>
          <a:solidFill>
            <a:srgbClr val="1F2937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1389888"/>
            <a:ext cx="365760" cy="36576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376672" y="13350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Système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376672" y="160934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psutil lit CPU, RAM, Disque en temps réel. Cache 60s côté frontend.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800600" y="2084832"/>
            <a:ext cx="3840480" cy="713232"/>
          </a:xfrm>
          <a:prstGeom prst="rect">
            <a:avLst/>
          </a:prstGeom>
          <a:solidFill>
            <a:srgbClr val="1F2937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2212848"/>
            <a:ext cx="365760" cy="36576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376672" y="21579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Météo via Open-Meteo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5376672" y="243230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gratuite, sans clé. Température, vent, direction par coordonnées GPS.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4800600" y="2907792"/>
            <a:ext cx="3840480" cy="713232"/>
          </a:xfrm>
          <a:prstGeom prst="rect">
            <a:avLst/>
          </a:prstGeom>
          <a:solidFill>
            <a:srgbClr val="1F2937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3035808"/>
            <a:ext cx="365760" cy="36576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5376672" y="29809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&amp; Filtres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5376672" y="325526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par pays et recherche texte sur la liste des villes supportées.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4800600" y="3730752"/>
            <a:ext cx="3840480" cy="713232"/>
          </a:xfrm>
          <a:prstGeom prst="rect">
            <a:avLst/>
          </a:prstGeom>
          <a:solidFill>
            <a:srgbClr val="1F2937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3858768"/>
            <a:ext cx="365760" cy="365760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5376672" y="38039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Robustesse &amp; Erreurs</a:t>
            </a:r>
            <a:endParaRPr lang="en-US" sz="1100" dirty="0"/>
          </a:p>
        </p:txBody>
      </p:sp>
      <p:sp>
        <p:nvSpPr>
          <p:cNvPr id="44" name="Text 38"/>
          <p:cNvSpPr/>
          <p:nvPr/>
        </p:nvSpPr>
        <p:spPr>
          <a:xfrm>
            <a:off x="5376672" y="407822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timeouts, city not found, et réponses JSON structurées.</a:t>
            </a:r>
            <a:endParaRPr lang="en-US" sz="950" dirty="0"/>
          </a:p>
        </p:txBody>
      </p:sp>
      <p:sp>
        <p:nvSpPr>
          <p:cNvPr id="45" name="Shape 39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1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2FF"/>
          </a:solidFill>
          <a:ln w="12700">
            <a:solidFill>
              <a:srgbClr val="00F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Frontend — Streamlit Dashboard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914400" cy="45720"/>
          </a:xfrm>
          <a:prstGeom prst="rect">
            <a:avLst/>
          </a:prstGeom>
          <a:solidFill>
            <a:srgbClr val="00F2FF"/>
          </a:solidFill>
          <a:ln w="12700">
            <a:solidFill>
              <a:srgbClr val="00F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95528"/>
            <a:ext cx="2743200" cy="1261872"/>
          </a:xfrm>
          <a:prstGeom prst="rect">
            <a:avLst/>
          </a:prstGeom>
          <a:solidFill>
            <a:srgbClr val="161B2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795528"/>
            <a:ext cx="2743200" cy="54864"/>
          </a:xfrm>
          <a:prstGeom prst="rect">
            <a:avLst/>
          </a:prstGeom>
          <a:solidFill>
            <a:srgbClr val="00F2FF"/>
          </a:solidFill>
          <a:ln w="12700">
            <a:solidFill>
              <a:srgbClr val="00F2F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97840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90525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En-tête &amp; Statut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119786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Online/Offline en temps réel via /api/health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27832" y="795528"/>
            <a:ext cx="2743200" cy="1261872"/>
          </a:xfrm>
          <a:prstGeom prst="rect">
            <a:avLst/>
          </a:prstGeom>
          <a:solidFill>
            <a:srgbClr val="161B2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27832" y="795528"/>
            <a:ext cx="2743200" cy="5486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978408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22192" y="90525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Jauges CPU/RAM/Disk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822192" y="119786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Graphiques circulaires Plotly avec alerte rouge &gt;85%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135624" y="795528"/>
            <a:ext cx="2743200" cy="1261872"/>
          </a:xfrm>
          <a:prstGeom prst="rect">
            <a:avLst/>
          </a:prstGeom>
          <a:solidFill>
            <a:srgbClr val="161B2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135624" y="795528"/>
            <a:ext cx="2743200" cy="54864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978408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29984" y="90525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Mondiale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729984" y="119786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scatter_mapbox avec fond carto-darkmatter (Plotly)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320040" y="2185416"/>
            <a:ext cx="2743200" cy="1261872"/>
          </a:xfrm>
          <a:prstGeom prst="rect">
            <a:avLst/>
          </a:prstGeom>
          <a:solidFill>
            <a:srgbClr val="161B2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20040" y="2185416"/>
            <a:ext cx="27432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2368296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4400" y="229514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des Villes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914400" y="258775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filtrable par pays et mot-clé en temps réel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3227832" y="2185416"/>
            <a:ext cx="2743200" cy="1261872"/>
          </a:xfrm>
          <a:prstGeom prst="rect">
            <a:avLst/>
          </a:prstGeom>
          <a:solidFill>
            <a:srgbClr val="161B2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227832" y="2185416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2368296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822192" y="229514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 Météo Live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3822192" y="258775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 CSS, couleur selon température (&gt;25°C = orange)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6135624" y="2185416"/>
            <a:ext cx="2743200" cy="1261872"/>
          </a:xfrm>
          <a:prstGeom prst="rect">
            <a:avLst/>
          </a:prstGeom>
          <a:solidFill>
            <a:srgbClr val="161B2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135624" y="2185416"/>
            <a:ext cx="2743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352" y="2368296"/>
            <a:ext cx="384048" cy="38404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29984" y="229514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Pays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6729984" y="258775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Barres colorées du nombre de nœuds par région géographique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320040" y="3575304"/>
            <a:ext cx="2743200" cy="1261872"/>
          </a:xfrm>
          <a:prstGeom prst="rect">
            <a:avLst/>
          </a:prstGeom>
          <a:solidFill>
            <a:srgbClr val="161B2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320040" y="3575304"/>
            <a:ext cx="27432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9768" y="3758184"/>
            <a:ext cx="384048" cy="38404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914400" y="368503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Courbe Températures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914400" y="39776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 area Plotly avec toutes les villes affichées</a:t>
            </a:r>
            <a:endParaRPr lang="en-US" sz="900" dirty="0"/>
          </a:p>
        </p:txBody>
      </p:sp>
      <p:sp>
        <p:nvSpPr>
          <p:cNvPr id="40" name="Shape 31"/>
          <p:cNvSpPr/>
          <p:nvPr/>
        </p:nvSpPr>
        <p:spPr>
          <a:xfrm>
            <a:off x="3227832" y="3575304"/>
            <a:ext cx="2743200" cy="1261872"/>
          </a:xfrm>
          <a:prstGeom prst="rect">
            <a:avLst/>
          </a:prstGeom>
          <a:solidFill>
            <a:srgbClr val="161B2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3227832" y="3575304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37560" y="3758184"/>
            <a:ext cx="384048" cy="38404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3822192" y="368503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&amp; Performance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3822192" y="39776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@st.cache_data : 60s système, 300s villes pour l'efficacité</a:t>
            </a:r>
            <a:endParaRPr lang="en-US" sz="900" dirty="0"/>
          </a:p>
        </p:txBody>
      </p:sp>
      <p:sp>
        <p:nvSpPr>
          <p:cNvPr id="45" name="Shape 35"/>
          <p:cNvSpPr/>
          <p:nvPr/>
        </p:nvSpPr>
        <p:spPr>
          <a:xfrm>
            <a:off x="6135624" y="3575304"/>
            <a:ext cx="2743200" cy="1261872"/>
          </a:xfrm>
          <a:prstGeom prst="rect">
            <a:avLst/>
          </a:prstGeom>
          <a:solidFill>
            <a:srgbClr val="161B2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6" name="Shape 36"/>
          <p:cNvSpPr/>
          <p:nvPr/>
        </p:nvSpPr>
        <p:spPr>
          <a:xfrm>
            <a:off x="6135624" y="3575304"/>
            <a:ext cx="2743200" cy="54864"/>
          </a:xfrm>
          <a:prstGeom prst="rect">
            <a:avLst/>
          </a:prstGeom>
          <a:solidFill>
            <a:srgbClr val="00F2FF"/>
          </a:solidFill>
          <a:ln w="12700">
            <a:solidFill>
              <a:srgbClr val="00F2FF"/>
            </a:solidFill>
            <a:prstDash val="solid"/>
          </a:ln>
        </p:spPr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5352" y="3758184"/>
            <a:ext cx="384048" cy="384048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6729984" y="368503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Glassmorphism</a:t>
            </a:r>
            <a:endParaRPr lang="en-US" sz="1100" dirty="0"/>
          </a:p>
        </p:txBody>
      </p:sp>
      <p:sp>
        <p:nvSpPr>
          <p:cNvPr id="49" name="Text 38"/>
          <p:cNvSpPr/>
          <p:nvPr/>
        </p:nvSpPr>
        <p:spPr>
          <a:xfrm>
            <a:off x="6729984" y="39776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JetBrains Mono, fond radial sombre, effets hover 3D</a:t>
            </a:r>
            <a:endParaRPr lang="en-US" sz="900" dirty="0"/>
          </a:p>
        </p:txBody>
      </p:sp>
      <p:sp>
        <p:nvSpPr>
          <p:cNvPr id="50" name="Shape 39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2FF"/>
          </a:solidFill>
          <a:ln w="12700">
            <a:solidFill>
              <a:srgbClr val="00F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CI/CD &amp; Infrastructure Docker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914400" cy="45720"/>
          </a:xfrm>
          <a:prstGeom prst="rect">
            <a:avLst/>
          </a:prstGeom>
          <a:solidFill>
            <a:srgbClr val="00F2FF"/>
          </a:solidFill>
          <a:ln w="12700">
            <a:solidFill>
              <a:srgbClr val="00F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777240"/>
            <a:ext cx="658368" cy="65836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7772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Commit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783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344168" y="1078992"/>
            <a:ext cx="438912" cy="45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21408" y="777240"/>
            <a:ext cx="658368" cy="658368"/>
          </a:xfrm>
          <a:prstGeom prst="ellipse">
            <a:avLst/>
          </a:prstGeom>
          <a:solidFill>
            <a:srgbClr val="00F2FF"/>
          </a:solidFill>
          <a:ln w="12700">
            <a:solidFill>
              <a:srgbClr val="00F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21408" y="7772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64792" y="15087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64792" y="1783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88920" y="1078992"/>
            <a:ext cx="438912" cy="45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777240"/>
            <a:ext cx="658368" cy="6583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7772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09544" y="15087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Build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9544" y="1783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· Test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33672" y="1078992"/>
            <a:ext cx="438912" cy="45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10912" y="777240"/>
            <a:ext cx="658368" cy="658368"/>
          </a:xfrm>
          <a:prstGeom prst="ellipse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10912" y="7772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54296" y="15087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54296" y="1783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container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78424" y="1078992"/>
            <a:ext cx="438912" cy="45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55664" y="777240"/>
            <a:ext cx="658368" cy="6583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55664" y="7772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099048" y="15087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Registry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99048" y="1783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23176" y="1078992"/>
            <a:ext cx="438912" cy="45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00416" y="777240"/>
            <a:ext cx="658368" cy="6583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00416" y="7772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543800" y="15087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543800" y="1783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2176272"/>
            <a:ext cx="4114800" cy="260604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2176272"/>
            <a:ext cx="4114800" cy="54864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04288"/>
            <a:ext cx="457200" cy="45720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143000" y="23042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Docker</a:t>
            </a:r>
            <a:endParaRPr lang="en-US" sz="1400" dirty="0"/>
          </a:p>
        </p:txBody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788920"/>
            <a:ext cx="256032" cy="256032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914400" y="27797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docker-compose.yml orchestre frontend + backend</a:t>
            </a:r>
            <a:endParaRPr lang="en-US" sz="1050" dirty="0"/>
          </a:p>
        </p:txBody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172968"/>
            <a:ext cx="256032" cy="256032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914400" y="31638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frontend : Streamlit port 8501</a:t>
            </a:r>
            <a:endParaRPr lang="en-US" sz="1050" dirty="0"/>
          </a:p>
        </p:txBody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557016"/>
            <a:ext cx="256032" cy="256032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914400" y="35478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backend : FastAPI port 8000</a:t>
            </a:r>
            <a:endParaRPr lang="en-US" sz="1050" dirty="0"/>
          </a:p>
        </p:txBody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941064"/>
            <a:ext cx="256032" cy="256032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914400" y="3931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bridge interne entre conteneurs</a:t>
            </a:r>
            <a:endParaRPr lang="en-US" sz="1050" dirty="0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325112"/>
            <a:ext cx="256032" cy="256032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914400" y="43159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et portabilité totale</a:t>
            </a:r>
            <a:endParaRPr lang="en-US" sz="1050" dirty="0"/>
          </a:p>
        </p:txBody>
      </p:sp>
      <p:sp>
        <p:nvSpPr>
          <p:cNvPr id="48" name="Shape 40"/>
          <p:cNvSpPr/>
          <p:nvPr/>
        </p:nvSpPr>
        <p:spPr>
          <a:xfrm>
            <a:off x="4663440" y="2176272"/>
            <a:ext cx="4114800" cy="260604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4663440" y="2176272"/>
            <a:ext cx="41148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50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2304288"/>
            <a:ext cx="457200" cy="457200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5440680" y="23042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</a:t>
            </a:r>
            <a:endParaRPr lang="en-US" sz="1400" dirty="0"/>
          </a:p>
        </p:txBody>
      </p:sp>
      <p:pic>
        <p:nvPicPr>
          <p:cNvPr id="5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788920"/>
            <a:ext cx="256032" cy="256032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5212080" y="27797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Déclenchement automatique sur push/PR</a:t>
            </a:r>
            <a:endParaRPr lang="en-US" sz="1050" dirty="0"/>
          </a:p>
        </p:txBody>
      </p:sp>
      <p:pic>
        <p:nvPicPr>
          <p:cNvPr id="5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172968"/>
            <a:ext cx="256032" cy="256032"/>
          </a:xfrm>
          <a:prstGeom prst="rect">
            <a:avLst/>
          </a:prstGeom>
        </p:spPr>
      </p:pic>
      <p:sp>
        <p:nvSpPr>
          <p:cNvPr id="55" name="Text 44"/>
          <p:cNvSpPr/>
          <p:nvPr/>
        </p:nvSpPr>
        <p:spPr>
          <a:xfrm>
            <a:off x="5212080" y="31638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Linting Python (flake8 / black)</a:t>
            </a:r>
            <a:endParaRPr lang="en-US" sz="1050" dirty="0"/>
          </a:p>
        </p:txBody>
      </p:sp>
      <p:pic>
        <p:nvPicPr>
          <p:cNvPr id="56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557016"/>
            <a:ext cx="256032" cy="256032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5212080" y="35478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unitaires (pytest)</a:t>
            </a:r>
            <a:endParaRPr lang="en-US" sz="1050" dirty="0"/>
          </a:p>
        </p:txBody>
      </p:sp>
      <p:pic>
        <p:nvPicPr>
          <p:cNvPr id="58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941064"/>
            <a:ext cx="256032" cy="256032"/>
          </a:xfrm>
          <a:prstGeom prst="rect">
            <a:avLst/>
          </a:prstGeom>
        </p:spPr>
      </p:pic>
      <p:sp>
        <p:nvSpPr>
          <p:cNvPr id="59" name="Text 46"/>
          <p:cNvSpPr/>
          <p:nvPr/>
        </p:nvSpPr>
        <p:spPr>
          <a:xfrm>
            <a:off x="5212080" y="3931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image Docker automatisé</a:t>
            </a:r>
            <a:endParaRPr lang="en-US" sz="1050" dirty="0"/>
          </a:p>
        </p:txBody>
      </p:sp>
      <p:pic>
        <p:nvPicPr>
          <p:cNvPr id="6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4325112"/>
            <a:ext cx="256032" cy="256032"/>
          </a:xfrm>
          <a:prstGeom prst="rect">
            <a:avLst/>
          </a:prstGeom>
        </p:spPr>
      </p:pic>
      <p:sp>
        <p:nvSpPr>
          <p:cNvPr id="61" name="Text 47"/>
          <p:cNvSpPr/>
          <p:nvPr/>
        </p:nvSpPr>
        <p:spPr>
          <a:xfrm>
            <a:off x="5212080" y="43159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vers Docker Hub Registry</a:t>
            </a:r>
            <a:endParaRPr lang="en-US" sz="1050" dirty="0"/>
          </a:p>
        </p:txBody>
      </p:sp>
      <p:sp>
        <p:nvSpPr>
          <p:cNvPr id="62" name="Shape 48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2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2FF"/>
          </a:solidFill>
          <a:ln w="12700">
            <a:solidFill>
              <a:srgbClr val="00F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Technologique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914400" cy="45720"/>
          </a:xfrm>
          <a:prstGeom prst="rect">
            <a:avLst/>
          </a:prstGeom>
          <a:solidFill>
            <a:srgbClr val="00F2FF"/>
          </a:solidFill>
          <a:ln w="12700">
            <a:solidFill>
              <a:srgbClr val="00F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95528"/>
            <a:ext cx="4206240" cy="201168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795528"/>
            <a:ext cx="4206240" cy="54864"/>
          </a:xfrm>
          <a:prstGeom prst="rect">
            <a:avLst/>
          </a:prstGeom>
          <a:solidFill>
            <a:srgbClr val="00F2FF"/>
          </a:solidFill>
          <a:ln w="12700">
            <a:solidFill>
              <a:srgbClr val="00F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869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" y="1252728"/>
            <a:ext cx="1463040" cy="256032"/>
          </a:xfrm>
          <a:prstGeom prst="rect">
            <a:avLst/>
          </a:prstGeom>
          <a:solidFill>
            <a:srgbClr val="1F293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2527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057400" y="12801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 principal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4632" y="1609344"/>
            <a:ext cx="1463040" cy="256032"/>
          </a:xfrm>
          <a:prstGeom prst="rect">
            <a:avLst/>
          </a:prstGeom>
          <a:solidFill>
            <a:srgbClr val="1F293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16093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057400" y="16367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API REST asynchrone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4632" y="1965960"/>
            <a:ext cx="1463040" cy="256032"/>
          </a:xfrm>
          <a:prstGeom prst="rect">
            <a:avLst/>
          </a:prstGeom>
          <a:solidFill>
            <a:srgbClr val="1F293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19659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psutil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057400" y="19933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système OS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4632" y="2322576"/>
            <a:ext cx="1463040" cy="256032"/>
          </a:xfrm>
          <a:prstGeom prst="rect">
            <a:avLst/>
          </a:prstGeom>
          <a:solidFill>
            <a:srgbClr val="1F293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23225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057400" y="23500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météo gratuite (REST)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27448" y="795528"/>
            <a:ext cx="4206240" cy="201168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27448" y="795528"/>
            <a:ext cx="420624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0328" y="8869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92040" y="1252728"/>
            <a:ext cx="1463040" cy="256032"/>
          </a:xfrm>
          <a:prstGeom prst="rect">
            <a:avLst/>
          </a:prstGeom>
          <a:solidFill>
            <a:srgbClr val="1F293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12527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64808" y="12801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dashboard Python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92040" y="1609344"/>
            <a:ext cx="1463040" cy="256032"/>
          </a:xfrm>
          <a:prstGeom prst="rect">
            <a:avLst/>
          </a:prstGeom>
          <a:solidFill>
            <a:srgbClr val="1F293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16093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64808" y="16367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Graphiques interactifs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92040" y="1965960"/>
            <a:ext cx="1463040" cy="256032"/>
          </a:xfrm>
          <a:prstGeom prst="rect">
            <a:avLst/>
          </a:prstGeom>
          <a:solidFill>
            <a:srgbClr val="1F293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19659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64808" y="19933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Manipulation de données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92040" y="2322576"/>
            <a:ext cx="1463040" cy="256032"/>
          </a:xfrm>
          <a:prstGeom prst="rect">
            <a:avLst/>
          </a:prstGeom>
          <a:solidFill>
            <a:srgbClr val="1F293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3225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Glassmorphism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64808" y="23500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premium sombre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2944368"/>
            <a:ext cx="4206240" cy="201168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2944368"/>
            <a:ext cx="42062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0358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84632" y="3401568"/>
            <a:ext cx="1463040" cy="256032"/>
          </a:xfrm>
          <a:prstGeom prst="rect">
            <a:avLst/>
          </a:prstGeom>
          <a:solidFill>
            <a:srgbClr val="1F293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" y="34015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057400" y="34290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Conteneurisation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4632" y="3758184"/>
            <a:ext cx="1463040" cy="256032"/>
          </a:xfrm>
          <a:prstGeom prst="rect">
            <a:avLst/>
          </a:prstGeom>
          <a:solidFill>
            <a:srgbClr val="1F293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" y="37581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057400" y="378561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multi-service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4632" y="4114800"/>
            <a:ext cx="1463040" cy="256032"/>
          </a:xfrm>
          <a:prstGeom prst="rect">
            <a:avLst/>
          </a:prstGeom>
          <a:solidFill>
            <a:srgbClr val="1F293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" y="41148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057400" y="414223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automatisé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4632" y="4471416"/>
            <a:ext cx="1463040" cy="256032"/>
          </a:xfrm>
          <a:prstGeom prst="rect">
            <a:avLst/>
          </a:prstGeom>
          <a:solidFill>
            <a:srgbClr val="1F293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4632" y="44714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2057400" y="44988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d'images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727448" y="2944368"/>
            <a:ext cx="4206240" cy="201168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27448" y="2944368"/>
            <a:ext cx="4206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10328" y="30358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4892040" y="3401568"/>
            <a:ext cx="1463040" cy="256032"/>
          </a:xfrm>
          <a:prstGeom prst="rect">
            <a:avLst/>
          </a:prstGeom>
          <a:solidFill>
            <a:srgbClr val="1F293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92040" y="34015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464808" y="34290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de métriques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892040" y="3758184"/>
            <a:ext cx="1463040" cy="256032"/>
          </a:xfrm>
          <a:prstGeom prst="rect">
            <a:avLst/>
          </a:prstGeom>
          <a:solidFill>
            <a:srgbClr val="1F293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92040" y="37581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464808" y="378561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dashboards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892040" y="4114800"/>
            <a:ext cx="1463040" cy="256032"/>
          </a:xfrm>
          <a:prstGeom prst="rect">
            <a:avLst/>
          </a:prstGeom>
          <a:solidFill>
            <a:srgbClr val="1F293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92040" y="41148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464808" y="414223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alertes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892040" y="4471416"/>
            <a:ext cx="1463040" cy="256032"/>
          </a:xfrm>
          <a:prstGeom prst="rect">
            <a:avLst/>
          </a:prstGeom>
          <a:solidFill>
            <a:srgbClr val="1F293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92040" y="44714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6464808" y="44988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/api/health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2FF"/>
          </a:solidFill>
          <a:ln w="12700">
            <a:solidFill>
              <a:srgbClr val="00F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Conclusion &amp; Perspectives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914400" cy="45720"/>
          </a:xfrm>
          <a:prstGeom prst="rect">
            <a:avLst/>
          </a:prstGeom>
          <a:solidFill>
            <a:srgbClr val="00F2FF"/>
          </a:solidFill>
          <a:ln w="12700">
            <a:solidFill>
              <a:srgbClr val="00F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04672"/>
            <a:ext cx="841248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04672"/>
            <a:ext cx="64008" cy="1417320"/>
          </a:xfrm>
          <a:prstGeom prst="rect">
            <a:avLst/>
          </a:prstGeom>
          <a:solidFill>
            <a:srgbClr val="00F2FF"/>
          </a:solidFill>
          <a:ln w="12700">
            <a:solidFill>
              <a:srgbClr val="00F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8412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du Projet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8872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18872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surveillance fullstack fonctionnel  ✓  FastAPI + Streamlit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0876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150876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microservices conteneurisée avec Docker Compose  ✓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2880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" y="182880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CI/CD automatisé  ✓  GitHub Actions → Docker Hub → Deploy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365760" y="2395728"/>
            <a:ext cx="841248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48640" y="2423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Améliorations Futures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365760" y="2834640"/>
            <a:ext cx="201168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365760" y="2834640"/>
            <a:ext cx="201168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97180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57200" y="35387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457200" y="385876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pour historiser les métriques et météo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2542032" y="2834640"/>
            <a:ext cx="201168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2542032" y="2834640"/>
            <a:ext cx="2011680" cy="54864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3552" y="2971800"/>
            <a:ext cx="502920" cy="5029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2633472" y="35387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Temps Réel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2633472" y="385876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live sans rechargement de page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4718304" y="2834640"/>
            <a:ext cx="201168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4718304" y="2834640"/>
            <a:ext cx="201168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9824" y="2971800"/>
            <a:ext cx="502920" cy="5029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809744" y="35387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</a:t>
            </a:r>
            <a:endParaRPr lang="en-US" sz="1050" dirty="0"/>
          </a:p>
        </p:txBody>
      </p:sp>
      <p:sp>
        <p:nvSpPr>
          <p:cNvPr id="30" name="Text 22"/>
          <p:cNvSpPr/>
          <p:nvPr/>
        </p:nvSpPr>
        <p:spPr>
          <a:xfrm>
            <a:off x="4809744" y="385876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/ OAuth2 pour sécuriser l'accès au dashboard</a:t>
            </a:r>
            <a:endParaRPr lang="en-US" sz="900" dirty="0"/>
          </a:p>
        </p:txBody>
      </p:sp>
      <p:sp>
        <p:nvSpPr>
          <p:cNvPr id="31" name="Shape 23"/>
          <p:cNvSpPr/>
          <p:nvPr/>
        </p:nvSpPr>
        <p:spPr>
          <a:xfrm>
            <a:off x="6894576" y="2834640"/>
            <a:ext cx="201168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6894576" y="2834640"/>
            <a:ext cx="2011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6096" y="2971800"/>
            <a:ext cx="502920" cy="50292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986016" y="35387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050" dirty="0"/>
          </a:p>
        </p:txBody>
      </p:sp>
      <p:sp>
        <p:nvSpPr>
          <p:cNvPr id="35" name="Text 26"/>
          <p:cNvSpPr/>
          <p:nvPr/>
        </p:nvSpPr>
        <p:spPr>
          <a:xfrm>
            <a:off x="6986016" y="385876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de Docker Compose vers K8s pour la scalabilité</a:t>
            </a:r>
            <a:endParaRPr lang="en-US" sz="900" dirty="0"/>
          </a:p>
        </p:txBody>
      </p:sp>
      <p:sp>
        <p:nvSpPr>
          <p:cNvPr id="36" name="Shape 27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5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7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9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2FF"/>
          </a:solidFill>
          <a:ln w="12700">
            <a:solidFill>
              <a:srgbClr val="00F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0066FF">
              <a:alpha val="12000"/>
            </a:srgbClr>
          </a:solidFill>
          <a:ln w="12700">
            <a:solidFill>
              <a:srgbClr val="0066FF">
                <a:alpha val="12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91440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48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 !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914400" y="28346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2743200" y="3383280"/>
            <a:ext cx="365760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71600" y="3584448"/>
            <a:ext cx="640080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71600" y="363016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Maissa </a:t>
            </a:r>
            <a:r>
              <a:rPr lang="en-US" sz="1600" b="1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Dhahri</a:t>
            </a: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600" b="1" dirty="0" smtClean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600" b="1" dirty="0" err="1" smtClean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Nour</a:t>
            </a:r>
            <a:r>
              <a:rPr lang="en-US" sz="1600" b="1" dirty="0" smtClean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</a:t>
            </a:r>
            <a:r>
              <a:rPr lang="en-US" sz="1600" b="1" dirty="0" err="1" smtClean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Houda</a:t>
            </a:r>
            <a:r>
              <a:rPr lang="en-US" sz="1600" b="1" dirty="0" smtClean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 smtClean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Gedira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71600" y="40050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GL1  |  Encadrant : Dr. Belgacem Chaibi  |  2025–2026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705</Words>
  <Application>Microsoft Office PowerPoint</Application>
  <PresentationFormat>On-screen Show (16:9)</PresentationFormat>
  <Paragraphs>191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DevNet Global Monitoring System</dc:title>
  <dc:subject>PptxGenJS Presentation</dc:subject>
  <dc:creator>Maissa Dhahri &amp; Nour El Houda Gedira</dc:creator>
  <cp:lastModifiedBy>HP</cp:lastModifiedBy>
  <cp:revision>5</cp:revision>
  <dcterms:created xsi:type="dcterms:W3CDTF">2026-05-05T06:19:23Z</dcterms:created>
  <dcterms:modified xsi:type="dcterms:W3CDTF">2026-05-05T08:32:18Z</dcterms:modified>
</cp:coreProperties>
</file>